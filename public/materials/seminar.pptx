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ea8faa2fb944a5" /><Relationship Type="http://schemas.openxmlformats.org/officeDocument/2006/relationships/extended-properties" Target="/docProps/app.xml" Id="Rfaf9cc72a60444a2" /><Relationship Type="http://schemas.openxmlformats.org/officeDocument/2006/relationships/officeDocument" Target="/ppt/presentation.xml" Id="R0be53cc66b72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f1a644da94f94"/>
  </p:sldMasterIdLst>
  <p:notesMasterIdLst>
    <p:notesMasterId xmlns:r="http://schemas.openxmlformats.org/officeDocument/2006/relationships" r:id="R37d2a39d5ff646df"/>
  </p:notesMasterIdLst>
  <p:sldIdLst>
    <p:sldId xmlns:r="http://schemas.openxmlformats.org/officeDocument/2006/relationships" id="256" r:id="Rc020acedb8c1457f"/>
    <p:sldId xmlns:r="http://schemas.openxmlformats.org/officeDocument/2006/relationships" id="257" r:id="Rd333ee3325a84df1"/>
    <p:sldId xmlns:r="http://schemas.openxmlformats.org/officeDocument/2006/relationships" id="258" r:id="R199e658dd6404d8f"/>
    <p:sldId xmlns:r="http://schemas.openxmlformats.org/officeDocument/2006/relationships" id="259" r:id="R05d4694a83b4470f"/>
    <p:sldId xmlns:r="http://schemas.openxmlformats.org/officeDocument/2006/relationships" id="260" r:id="R085ab8e73e374c2b"/>
    <p:sldId xmlns:r="http://schemas.openxmlformats.org/officeDocument/2006/relationships" id="261" r:id="R879ca9e7c6e54003"/>
    <p:sldId xmlns:r="http://schemas.openxmlformats.org/officeDocument/2006/relationships" id="262" r:id="R6ffc71c8871e49bf"/>
    <p:sldId xmlns:r="http://schemas.openxmlformats.org/officeDocument/2006/relationships" id="263" r:id="Rf60b4d35dca943ab"/>
    <p:sldId xmlns:r="http://schemas.openxmlformats.org/officeDocument/2006/relationships" id="264" r:id="R820338b3f59a46d2"/>
    <p:sldId xmlns:r="http://schemas.openxmlformats.org/officeDocument/2006/relationships" id="265" r:id="R268b93152127466c"/>
    <p:sldId xmlns:r="http://schemas.openxmlformats.org/officeDocument/2006/relationships" id="266" r:id="R7f68cda3be7d448a"/>
    <p:sldId xmlns:r="http://schemas.openxmlformats.org/officeDocument/2006/relationships" id="267" r:id="R52dcbec177a14dd1"/>
    <p:sldId xmlns:r="http://schemas.openxmlformats.org/officeDocument/2006/relationships" id="268" r:id="Rb8668cb4c1df422a"/>
    <p:sldId xmlns:r="http://schemas.openxmlformats.org/officeDocument/2006/relationships" id="269" r:id="R8f3da5d86e1a490b"/>
    <p:sldId xmlns:r="http://schemas.openxmlformats.org/officeDocument/2006/relationships" id="270" r:id="R3fb8fe57bc224030"/>
    <p:sldId xmlns:r="http://schemas.openxmlformats.org/officeDocument/2006/relationships" id="271" r:id="R6d4ef9288d6448b4"/>
    <p:sldId xmlns:r="http://schemas.openxmlformats.org/officeDocument/2006/relationships" id="272" r:id="Raedaca9bcd594bdf"/>
    <p:sldId xmlns:r="http://schemas.openxmlformats.org/officeDocument/2006/relationships" id="273" r:id="Re106f0f768ce4622"/>
    <p:sldId xmlns:r="http://schemas.openxmlformats.org/officeDocument/2006/relationships" id="274" r:id="R1ed2a76f0d274ba2"/>
    <p:sldId xmlns:r="http://schemas.openxmlformats.org/officeDocument/2006/relationships" id="275" r:id="R7dcfcb2c50214d98"/>
    <p:sldId xmlns:r="http://schemas.openxmlformats.org/officeDocument/2006/relationships" id="276" r:id="R3812ff08229044d3"/>
    <p:sldId xmlns:r="http://schemas.openxmlformats.org/officeDocument/2006/relationships" id="277" r:id="Rdebb2a8243b745f5"/>
    <p:sldId xmlns:r="http://schemas.openxmlformats.org/officeDocument/2006/relationships" id="278" r:id="R80db295fc8264cce"/>
    <p:sldId xmlns:r="http://schemas.openxmlformats.org/officeDocument/2006/relationships" id="279" r:id="R3fca28bdbb2a4194"/>
    <p:sldId xmlns:r="http://schemas.openxmlformats.org/officeDocument/2006/relationships" id="280" r:id="Ra60803a5fa5f4016"/>
    <p:sldId xmlns:r="http://schemas.openxmlformats.org/officeDocument/2006/relationships" id="281" r:id="R92ce988919784e43"/>
    <p:sldId xmlns:r="http://schemas.openxmlformats.org/officeDocument/2006/relationships" id="282" r:id="R441f662eb74e4d89"/>
    <p:sldId xmlns:r="http://schemas.openxmlformats.org/officeDocument/2006/relationships" id="283" r:id="Rebe56eac14c642c0"/>
    <p:sldId xmlns:r="http://schemas.openxmlformats.org/officeDocument/2006/relationships" id="284" r:id="R08635874e8c3407a"/>
    <p:sldId xmlns:r="http://schemas.openxmlformats.org/officeDocument/2006/relationships" id="285" r:id="R661da98dafdd46fe"/>
    <p:sldId xmlns:r="http://schemas.openxmlformats.org/officeDocument/2006/relationships" id="286" r:id="Rd87ba284c6e848b1"/>
    <p:sldId xmlns:r="http://schemas.openxmlformats.org/officeDocument/2006/relationships" id="287" r:id="R30c1455f9ac545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8f3caa0d0840bf" /><Relationship Type="http://schemas.openxmlformats.org/officeDocument/2006/relationships/slideMaster" Target="/ppt/slideMasters/slideMaster1.xml" Id="R1bef1a644da94f94" /><Relationship Type="http://schemas.openxmlformats.org/officeDocument/2006/relationships/notesMaster" Target="/ppt/notesMasters/notesMaster1.xml" Id="R37d2a39d5ff646df" /><Relationship Type="http://schemas.openxmlformats.org/officeDocument/2006/relationships/presProps" Target="/ppt/presProps.xml" Id="R98e7ebbc14124c9c" /><Relationship Type="http://schemas.openxmlformats.org/officeDocument/2006/relationships/tableStyles" Target="/ppt/tableStyles.xml" Id="Rc5bd96e958cd4814" /><Relationship Type="http://schemas.openxmlformats.org/officeDocument/2006/relationships/slide" Target="/ppt/slides/slide1.xml" Id="Rc020acedb8c1457f" /><Relationship Type="http://schemas.openxmlformats.org/officeDocument/2006/relationships/slide" Target="/ppt/slides/slide2.xml" Id="Rd333ee3325a84df1" /><Relationship Type="http://schemas.openxmlformats.org/officeDocument/2006/relationships/slide" Target="/ppt/slides/slide3.xml" Id="R199e658dd6404d8f" /><Relationship Type="http://schemas.openxmlformats.org/officeDocument/2006/relationships/slide" Target="/ppt/slides/slide4.xml" Id="R05d4694a83b4470f" /><Relationship Type="http://schemas.openxmlformats.org/officeDocument/2006/relationships/slide" Target="/ppt/slides/slide5.xml" Id="R085ab8e73e374c2b" /><Relationship Type="http://schemas.openxmlformats.org/officeDocument/2006/relationships/slide" Target="/ppt/slides/slide6.xml" Id="R879ca9e7c6e54003" /><Relationship Type="http://schemas.openxmlformats.org/officeDocument/2006/relationships/slide" Target="/ppt/slides/slide7.xml" Id="R6ffc71c8871e49bf" /><Relationship Type="http://schemas.openxmlformats.org/officeDocument/2006/relationships/slide" Target="/ppt/slides/slide8.xml" Id="Rf60b4d35dca943ab" /><Relationship Type="http://schemas.openxmlformats.org/officeDocument/2006/relationships/slide" Target="/ppt/slides/slide9.xml" Id="R820338b3f59a46d2" /><Relationship Type="http://schemas.openxmlformats.org/officeDocument/2006/relationships/slide" Target="/ppt/slides/slide10.xml" Id="R268b93152127466c" /><Relationship Type="http://schemas.openxmlformats.org/officeDocument/2006/relationships/slide" Target="/ppt/slides/slide11.xml" Id="R7f68cda3be7d448a" /><Relationship Type="http://schemas.openxmlformats.org/officeDocument/2006/relationships/slide" Target="/ppt/slides/slide12.xml" Id="R52dcbec177a14dd1" /><Relationship Type="http://schemas.openxmlformats.org/officeDocument/2006/relationships/slide" Target="/ppt/slides/slide13.xml" Id="Rb8668cb4c1df422a" /><Relationship Type="http://schemas.openxmlformats.org/officeDocument/2006/relationships/slide" Target="/ppt/slides/slide14.xml" Id="R8f3da5d86e1a490b" /><Relationship Type="http://schemas.openxmlformats.org/officeDocument/2006/relationships/slide" Target="/ppt/slides/slide15.xml" Id="R3fb8fe57bc224030" /><Relationship Type="http://schemas.openxmlformats.org/officeDocument/2006/relationships/slide" Target="/ppt/slides/slide16.xml" Id="R6d4ef9288d6448b4" /><Relationship Type="http://schemas.openxmlformats.org/officeDocument/2006/relationships/slide" Target="/ppt/slides/slide17.xml" Id="Raedaca9bcd594bdf" /><Relationship Type="http://schemas.openxmlformats.org/officeDocument/2006/relationships/slide" Target="/ppt/slides/slide18.xml" Id="Re106f0f768ce4622" /><Relationship Type="http://schemas.openxmlformats.org/officeDocument/2006/relationships/slide" Target="/ppt/slides/slide19.xml" Id="R1ed2a76f0d274ba2" /><Relationship Type="http://schemas.openxmlformats.org/officeDocument/2006/relationships/slide" Target="/ppt/slides/slide20.xml" Id="R7dcfcb2c50214d98" /><Relationship Type="http://schemas.openxmlformats.org/officeDocument/2006/relationships/slide" Target="/ppt/slides/slide21.xml" Id="R3812ff08229044d3" /><Relationship Type="http://schemas.openxmlformats.org/officeDocument/2006/relationships/slide" Target="/ppt/slides/slide22.xml" Id="Rdebb2a8243b745f5" /><Relationship Type="http://schemas.openxmlformats.org/officeDocument/2006/relationships/slide" Target="/ppt/slides/slide23.xml" Id="R80db295fc8264cce" /><Relationship Type="http://schemas.openxmlformats.org/officeDocument/2006/relationships/slide" Target="/ppt/slides/slide24.xml" Id="R3fca28bdbb2a4194" /><Relationship Type="http://schemas.openxmlformats.org/officeDocument/2006/relationships/slide" Target="/ppt/slides/slide25.xml" Id="Ra60803a5fa5f4016" /><Relationship Type="http://schemas.openxmlformats.org/officeDocument/2006/relationships/slide" Target="/ppt/slides/slide26.xml" Id="R92ce988919784e43" /><Relationship Type="http://schemas.openxmlformats.org/officeDocument/2006/relationships/slide" Target="/ppt/slides/slide27.xml" Id="R441f662eb74e4d89" /><Relationship Type="http://schemas.openxmlformats.org/officeDocument/2006/relationships/slide" Target="/ppt/slides/slide28.xml" Id="Rebe56eac14c642c0" /><Relationship Type="http://schemas.openxmlformats.org/officeDocument/2006/relationships/slide" Target="/ppt/slides/slide29.xml" Id="R08635874e8c3407a" /><Relationship Type="http://schemas.openxmlformats.org/officeDocument/2006/relationships/slide" Target="/ppt/slides/slide30.xml" Id="R661da98dafdd46fe" /><Relationship Type="http://schemas.openxmlformats.org/officeDocument/2006/relationships/slide" Target="/ppt/slides/slide31.xml" Id="Rd87ba284c6e848b1" /><Relationship Type="http://schemas.openxmlformats.org/officeDocument/2006/relationships/slide" Target="/ppt/slides/slide32.xml" Id="R30c1455f9ac545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5dfd57b06649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3023cee44f4d84" /><Relationship Type="http://schemas.openxmlformats.org/officeDocument/2006/relationships/notesMaster" Target="/ppt/notesMasters/notesMaster1.xml" Id="R6eb296c59084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b339ed1e2242b2" /><Relationship Type="http://schemas.openxmlformats.org/officeDocument/2006/relationships/notesMaster" Target="/ppt/notesMasters/notesMaster1.xml" Id="R5d73bdf0fbdd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8dc1c53fe14922" /><Relationship Type="http://schemas.openxmlformats.org/officeDocument/2006/relationships/notesMaster" Target="/ppt/notesMasters/notesMaster1.xml" Id="R7cf865cbddc146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cceaac55964fe6" /><Relationship Type="http://schemas.openxmlformats.org/officeDocument/2006/relationships/notesMaster" Target="/ppt/notesMasters/notesMaster1.xml" Id="R5a98d830b08c46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9072d4d3574180" /><Relationship Type="http://schemas.openxmlformats.org/officeDocument/2006/relationships/notesMaster" Target="/ppt/notesMasters/notesMaster1.xml" Id="R0cdb3151705a41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819e4cf8b24630" /><Relationship Type="http://schemas.openxmlformats.org/officeDocument/2006/relationships/notesMaster" Target="/ppt/notesMasters/notesMaster1.xml" Id="R0cc21cb66b124c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531b6e80944289" /><Relationship Type="http://schemas.openxmlformats.org/officeDocument/2006/relationships/notesMaster" Target="/ppt/notesMasters/notesMaster1.xml" Id="R86e26ea4b50b47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f712db4364866" /><Relationship Type="http://schemas.openxmlformats.org/officeDocument/2006/relationships/notesMaster" Target="/ppt/notesMasters/notesMaster1.xml" Id="Ra510773eaff24f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ac3b6ff401479a" /><Relationship Type="http://schemas.openxmlformats.org/officeDocument/2006/relationships/notesMaster" Target="/ppt/notesMasters/notesMaster1.xml" Id="R82181946b210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93034ee4234f4e" /><Relationship Type="http://schemas.openxmlformats.org/officeDocument/2006/relationships/notesMaster" Target="/ppt/notesMasters/notesMaster1.xml" Id="R3e6fd916824944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505d16fa2b48c5" /><Relationship Type="http://schemas.openxmlformats.org/officeDocument/2006/relationships/notesMaster" Target="/ppt/notesMasters/notesMaster1.xml" Id="Ra589f92fb9a644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3179c0055a437a" /><Relationship Type="http://schemas.openxmlformats.org/officeDocument/2006/relationships/notesMaster" Target="/ppt/notesMasters/notesMaster1.xml" Id="Ra03620dd269a49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9239b1b7084ac8" /><Relationship Type="http://schemas.openxmlformats.org/officeDocument/2006/relationships/notesMaster" Target="/ppt/notesMasters/notesMaster1.xml" Id="Ra151b248cb8e4f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ce345b757047c3" /><Relationship Type="http://schemas.openxmlformats.org/officeDocument/2006/relationships/notesMaster" Target="/ppt/notesMasters/notesMaster1.xml" Id="Rdaec8090967a4f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5ed81e462447a5" /><Relationship Type="http://schemas.openxmlformats.org/officeDocument/2006/relationships/notesMaster" Target="/ppt/notesMasters/notesMaster1.xml" Id="R40bbac3b8f7c44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763e935aa94599" /><Relationship Type="http://schemas.openxmlformats.org/officeDocument/2006/relationships/notesMaster" Target="/ppt/notesMasters/notesMaster1.xml" Id="R8540365e18504c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b0ab38e4834573" /><Relationship Type="http://schemas.openxmlformats.org/officeDocument/2006/relationships/notesMaster" Target="/ppt/notesMasters/notesMaster1.xml" Id="R48fb9cb452d349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b0dcb32ea34f9e" /><Relationship Type="http://schemas.openxmlformats.org/officeDocument/2006/relationships/notesMaster" Target="/ppt/notesMasters/notesMaster1.xml" Id="R5adc92da49164b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742e9659e34c5c" /><Relationship Type="http://schemas.openxmlformats.org/officeDocument/2006/relationships/notesMaster" Target="/ppt/notesMasters/notesMaster1.xml" Id="Ra16ce4aa718042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a51844ce544ff8" /><Relationship Type="http://schemas.openxmlformats.org/officeDocument/2006/relationships/notesMaster" Target="/ppt/notesMasters/notesMaster1.xml" Id="R0b9706b1f78945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9106c100b84cee" /><Relationship Type="http://schemas.openxmlformats.org/officeDocument/2006/relationships/notesMaster" Target="/ppt/notesMasters/notesMaster1.xml" Id="Radf277400e2f46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a46756781a45a6" /><Relationship Type="http://schemas.openxmlformats.org/officeDocument/2006/relationships/notesMaster" Target="/ppt/notesMasters/notesMaster1.xml" Id="R4022670985d849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2f805eb6924e3a" /><Relationship Type="http://schemas.openxmlformats.org/officeDocument/2006/relationships/notesMaster" Target="/ppt/notesMasters/notesMaster1.xml" Id="Ra9dbf393af57403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35c1fa37aa42b1" /><Relationship Type="http://schemas.openxmlformats.org/officeDocument/2006/relationships/notesMaster" Target="/ppt/notesMasters/notesMaster1.xml" Id="Rc931796fed204f5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60973fb2de497d" /><Relationship Type="http://schemas.openxmlformats.org/officeDocument/2006/relationships/notesMaster" Target="/ppt/notesMasters/notesMaster1.xml" Id="R0dde499e305347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120dc0a0884ca2" /><Relationship Type="http://schemas.openxmlformats.org/officeDocument/2006/relationships/notesMaster" Target="/ppt/notesMasters/notesMaster1.xml" Id="R241fd2cff64948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bc361a9dcd4bd6" /><Relationship Type="http://schemas.openxmlformats.org/officeDocument/2006/relationships/notesMaster" Target="/ppt/notesMasters/notesMaster1.xml" Id="Ra832d1d3c6864c6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0f4cab62154766" /><Relationship Type="http://schemas.openxmlformats.org/officeDocument/2006/relationships/notesMaster" Target="/ppt/notesMasters/notesMaster1.xml" Id="R3e0f2859498c4c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2062571641b4030" /><Relationship Type="http://schemas.openxmlformats.org/officeDocument/2006/relationships/notesMaster" Target="/ppt/notesMasters/notesMaster1.xml" Id="Rcdb8d0114fdf43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07534abaef4c04" /><Relationship Type="http://schemas.openxmlformats.org/officeDocument/2006/relationships/notesMaster" Target="/ppt/notesMasters/notesMaster1.xml" Id="R362110aabd504d3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609dd1a2e394800" /><Relationship Type="http://schemas.openxmlformats.org/officeDocument/2006/relationships/notesMaster" Target="/ppt/notesMasters/notesMaster1.xml" Id="R3f5e9b72052843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54c12cfec9244a3" /><Relationship Type="http://schemas.openxmlformats.org/officeDocument/2006/relationships/notesMaster" Target="/ppt/notesMasters/notesMaster1.xml" Id="R017ede8e4be443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Занятие на 90 минут для бакалавриата с начальным опытом НИР. Основной материал: методическое пособие. Студенты заполняют индивидуальную рабочую тетрадь. Дата на слайде обозначает редакцию комплекта, дату занятия преподаватель устанавливает по расписанию.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 пособия. Заявка в аудитории является учебным черновиком, который дорабатывается по подтвержденным источникам. Прием 2026 года уже закрыт. Проверить все поля рабочей тетради, для каждого пробела указать действие и срок.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на 90 минут. Включает работу студентов, а не только лекцию. Раздел 1 пособия содержит подробную разбивку. Рекомендуется заранее найти два аналога и возможный источник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2 пособия. Попросить объяснить разницу между обучением известной модели и исследованием нового механизма. Пример: единый порог и групповые пороги сравниваются при одинаковом FPR.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предоставленная презентация НИР_кафедры_ИИ_ФУ.pptx. Разделы 2 и 6 пособия. Названные компании и кафедральные данные не становятся доступными студенту автоматически. Согласовать новую задачу и права.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Положение УМНИК-2026 очередь 1, пункты 2.1, 3.1, 3.2. https://fasie.ru/upload/docs/UMNIK-2026.pdf ; копия https://ulstu.ru/upload/iblock/bdb/26h1wqdenzvn9l19tsvvo68rayr2ugx1/Polozhenie-o-konkurse-UMNIK_2026.pdf . Раздел 3 пособия.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3 пособия. Положение 2026, пункты 2.1–2.2, 2.8–2.11. Ограничение относится ко всей грантовой поддержке Фонда, а не только УМНИК. Идентичные проекты разных заявителей снимаются. https://fasie.ru/upload/docs/UMNIK-2026.pdf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Презентация программы Фонда, страница 7: https://kuzstu.ru/uploads/attach/file/2026/05/04/bbac357fe36d7d3408c1.pdf . Дедлайн подтвержден сообщением УУНиТ https://uust.ru/uprip/publications/news/get/konkurs-umnik/ . Раздел 4 пособия. Все часы UTC+3. Московское проживание не устанавливает отдельный конкурсный срок.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4 пособия. Подробные рекомендуемые интервалы: 6–12 октября паспорт проекта, 13–19 октября аналоги, 20–26 октября baseline, 27 октября – 2 ноября эксперимент и ТЗ, 3–9 ноября клиент и черновик, 10–16 ноября защита. Даты занятия зависят от расписания.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Положение 2026, пункты 1.6, 4.11, 5.1. Перечень вызовов, строка 319. https://kuzstu.ru/uploads/attach/file/2026/05/04/3b4ec528eea790a1306c.xlsx . Раздел 5 пособия. Не отождествлять использование ИИ со всем НПТЛ.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Разделы 6–8 пособия. Полный каталог содержит 14 тем. Для новичка исключить зависимость от закрытых архивов и обучения большой модели с нуля. Упражнение: оценить выбранную тему по пяти критериям рабочей тетради.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вызовов 2026 года, строки 135, 152, 25, 319. https://kuzstu.ru/uploads/attach/file/2026/05/04/3b4ec528eea790a1306c.xlsx . Раздел 7 пособия. Точные требования проверяются заново в актуальной форме. Собственная задача должна быть выполнимой.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Положение 2026, пункт 2.4.1. https://fasie.ru/upload/docs/UMNIK-2026.pdf . Разделы 9 и 12 пособия. Последняя строка является учебным примером. Студенты заполняют раздел 2 тетради.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9 пособия, сквозной пример в разделе 12. Учебный ориентир аннотации 120–180 слов, но реальное ограничение проверяется в форме. Все числа актуальности требуют источника. Не придумывать интервью и клиентов.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Разделы 8, 10, 12 пособия. Вклад примера А связан с правилом калибровки и обработкой малых групп. Комбинация правил и Isolation Forest сама по себе уже известна. Упражнение: дописать гипотезу выбранной 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Разделы 8 и 12 пособия. Начальный обзор: 5–10 научных и 3–5 технических аналогов как методическая рекомендация. Для качества данных используются официальные документы dbt, GX и Soda: https://docs.getdbt.com/docs/build/data-tests ; https://docs.greatexpectations.io/docs/core/introduction/ ; https://docs.soda.io/soda-cl-overview . Не приписывать конкурентам отсутствующие функции без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10 пособия. Открытая страница не является автоматическим разрешением на массовый сбор, обучение и распространение. Для проекта по контрактам нельзя использовать будущий статус исполнения. Студенты заполняют раздел 4 тетради.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10 пособия. Одни и те же разговоры, шаблоны документов, патентные семейства или репозитории не должны создавать утечку. До финального теста фиксируются метрики и критерии успеха. Попросить студента назвать одну возможную утечку своей 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11 пособия. Average Precision не тождественна трапецеидальной PR-AUC. Официальное определение: https://scikit-learn.org/stable/modules/generated/sklearn.metrics.average_precision_score.html . Для MAPE проверить нули и близкие к нулю значения. Все метрики определяются до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11 пособия. Учебный расчет. Precision также равен 0,80. Порог настраивается на validation, а не после просмотра test. Проверить, понимают ли студенты знаменатель FPR.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12 пособия. Пример А, все числа являются учебными целями. 100 000 строк, 20 признаков, Recall ≥ 0,80 при FPR ≤ 0,01, выигрыш Recall ≥ 0,05, время ≤ 120 секунд на фиксированном CPU-стенде. Эти цели требуют подтверждения baseline до реальной подачи.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13 пособия. Положение 2026, приложение 3 к договору, страница 28. https://fasie.ru/upload/docs/UMNIK-2026.pdf . Если конструктивное требование не применяется к ПО, дать объяснение, не оставлять поле пустым.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14 пособия. Форма календарного плана, страницы 29–30. Пункт 3.3 положения содержит 100% после договора и допускает иной порядок. В презентации программы показаны два этапа. Не объявлять схему выплат только по картинке. В приложении о расходах указано вознаграждение за выполнение работ. https://fasie.ru/upload/docs/UMNIK-2026.pdf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15 пособия. Учебный пример рынка: 100 организаций × 60 000 рублей = 6 млн рублей в год; это условное допущение, а не оценка российского рынка. 5 клиентов дают 300 000 рублей выручки в условном сценарии. Не переносить эти числа в заявку без источников.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Положение 2026, пункты 2.4.1–2.4.2, приложение 2. Разделы 9 и 12 пособия. Заявитель не приписывает себе кафедральные гранты и внедрения. Квалификация оценивается в связи с конкретным проектом. https://fasie.ru/upload/docs/UMNIK-2026.pdf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Положение 2026, пункт 2.4.1. Заявление приложение 1, декларация приложение 4, согласие приложение 5. Документы датируются не ранее объявления. Один сканированный документ в одном PDF. Ссылки не заменяют вложения. Раздел 19 пособия. https://fasie.ru/upload/docs/UMNIK-2026.pdf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18 пособия. https://online.fasie.ru/ . Текущие названия кнопок и ограничения формы сверяются непосредственно в открытой очереди. На семинаре не вводить учебные заглушки в реальную заявку. Пароль не передавать преподавателю.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2 положения, страницы 16–17. https://fasie.ru/upload/docs/UMNIK-2026.pdf . Дополнительный 1 балл за НПТЛ при подтвержденном соответствии. Раздел 20 пособия. Учебная шкала на 100 баллов является отдельным предложением преподавателю.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20 пособия. Реальный регламент определяет площадка. Рекомендуемые 7 слайдов проекта: название, проблема, аналоги, эксперимент, ТЗ, план и задел, коммерциализация. Заявитель объясняет, где достанет данные и как подтвердит отличие.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 21 пособия. Положение, пункты 6.7, 6.8, 6.10. Потребуется УКЭП для договора и отчетов. Проверка требований п. 6.3 проводится отдельно. Порядок финансирования зависит от договора. https://fasie.ru/upload/docs/UMNIK-2026.pdf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Положение 2026, пункты 3.6, 6.14–6.18. Оригинальность текстов НТО не менее 80%. Рекомендуемый бизнес-план не менее 20 страниц. Разделы 21–22 пособия. Регистрация программы не подтверждает новизну алгоритма. https://fasie.ru/upload/docs/UMNIK-2026.pdf ; https://rospatent.gov.ru/ru/documentforms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Разделы 23–26 пособия. 48 часов являются рекомендуемым учебным сроком. Пять минут взаимной проверки: продукт, пользователь, отличие, эксперимент и одна возможная утечка. Все реальные даты Фонда и личные документы проверяются заново. Автор комплекта Никитин Петр Владимирович.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51fa2f554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3b7d732b1747e7" /><Relationship Type="http://schemas.openxmlformats.org/officeDocument/2006/relationships/slideLayout" Target="/ppt/slideLayouts/slideLayout1.xml" Id="R269b419c6833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b419c6833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5507674a843d1" /><Relationship Type="http://schemas.openxmlformats.org/officeDocument/2006/relationships/notesSlide" Target="/ppt/notesSlides/notesSlide1.xml" Id="Rc5f0905c40b9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7b57b373c451a" /><Relationship Type="http://schemas.openxmlformats.org/officeDocument/2006/relationships/notesSlide" Target="/ppt/notesSlides/notesSlide2.xml" Id="R5555f843c0ba4a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4df435fb04e8d" /><Relationship Type="http://schemas.openxmlformats.org/officeDocument/2006/relationships/notesSlide" Target="/ppt/notesSlides/notesSlide3.xml" Id="R14025703d44746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ca76a4f304833" /><Relationship Type="http://schemas.openxmlformats.org/officeDocument/2006/relationships/notesSlide" Target="/ppt/notesSlides/notesSlide4.xml" Id="R7767fbe0966745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0c2d912d14ac1" /><Relationship Type="http://schemas.openxmlformats.org/officeDocument/2006/relationships/notesSlide" Target="/ppt/notesSlides/notesSlide5.xml" Id="Ref9c133f27074f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2439dd53d4df8" /><Relationship Type="http://schemas.openxmlformats.org/officeDocument/2006/relationships/notesSlide" Target="/ppt/notesSlides/notesSlide6.xml" Id="R7251b5a0f7f04d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02a7a3a2c4b98" /><Relationship Type="http://schemas.openxmlformats.org/officeDocument/2006/relationships/notesSlide" Target="/ppt/notesSlides/notesSlide7.xml" Id="R3d68b66b2add49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860a6b28c4ba2" /><Relationship Type="http://schemas.openxmlformats.org/officeDocument/2006/relationships/notesSlide" Target="/ppt/notesSlides/notesSlide8.xml" Id="Rdca4fba9cdfb45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7f7f96b24832" /><Relationship Type="http://schemas.openxmlformats.org/officeDocument/2006/relationships/notesSlide" Target="/ppt/notesSlides/notesSlide9.xml" Id="R68da6fb81e5847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a5407ff364715" /><Relationship Type="http://schemas.openxmlformats.org/officeDocument/2006/relationships/notesSlide" Target="/ppt/notesSlides/notesSlide10.xml" Id="R0c80c82076b84d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61b9f3a7241fc" /><Relationship Type="http://schemas.openxmlformats.org/officeDocument/2006/relationships/notesSlide" Target="/ppt/notesSlides/notesSlide11.xml" Id="Rb96601e3c21841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c76befe924c2b" /><Relationship Type="http://schemas.openxmlformats.org/officeDocument/2006/relationships/notesSlide" Target="/ppt/notesSlides/notesSlide12.xml" Id="R6ce0216cfaa84b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07b5d5d084f27" /><Relationship Type="http://schemas.openxmlformats.org/officeDocument/2006/relationships/notesSlide" Target="/ppt/notesSlides/notesSlide13.xml" Id="Rf19bd889644a4d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b7e404a7a4c86" /><Relationship Type="http://schemas.openxmlformats.org/officeDocument/2006/relationships/notesSlide" Target="/ppt/notesSlides/notesSlide14.xml" Id="R7ee1bdd7c0fd48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bb75ffe5e4227" /><Relationship Type="http://schemas.openxmlformats.org/officeDocument/2006/relationships/notesSlide" Target="/ppt/notesSlides/notesSlide15.xml" Id="R62f1ef883ad14b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c67964cf84c90" /><Relationship Type="http://schemas.openxmlformats.org/officeDocument/2006/relationships/notesSlide" Target="/ppt/notesSlides/notesSlide16.xml" Id="R437329b5135f46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c071fbe1c4e03" /><Relationship Type="http://schemas.openxmlformats.org/officeDocument/2006/relationships/notesSlide" Target="/ppt/notesSlides/notesSlide17.xml" Id="R4a402c19bbdb43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c5db518e24686" /><Relationship Type="http://schemas.openxmlformats.org/officeDocument/2006/relationships/notesSlide" Target="/ppt/notesSlides/notesSlide18.xml" Id="R590b665aa6ce4f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7ef5b631b4bdd" /><Relationship Type="http://schemas.openxmlformats.org/officeDocument/2006/relationships/notesSlide" Target="/ppt/notesSlides/notesSlide19.xml" Id="R5e5a3e9d5bfe4b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3d4869e8c4f5a" /><Relationship Type="http://schemas.openxmlformats.org/officeDocument/2006/relationships/notesSlide" Target="/ppt/notesSlides/notesSlide20.xml" Id="R4941ee444cd446c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34ffdd4b74704" /><Relationship Type="http://schemas.openxmlformats.org/officeDocument/2006/relationships/notesSlide" Target="/ppt/notesSlides/notesSlide21.xml" Id="Rb7e79b5696c447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47e7e67e145d9" /><Relationship Type="http://schemas.openxmlformats.org/officeDocument/2006/relationships/notesSlide" Target="/ppt/notesSlides/notesSlide22.xml" Id="R253d9cfb7c0a42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b84ba1cde45cd" /><Relationship Type="http://schemas.openxmlformats.org/officeDocument/2006/relationships/notesSlide" Target="/ppt/notesSlides/notesSlide23.xml" Id="R98aca7c4e0b643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61ed65abb44a3" /><Relationship Type="http://schemas.openxmlformats.org/officeDocument/2006/relationships/notesSlide" Target="/ppt/notesSlides/notesSlide24.xml" Id="Rc4a24dfe68b345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4ee8e498f44b7" /><Relationship Type="http://schemas.openxmlformats.org/officeDocument/2006/relationships/notesSlide" Target="/ppt/notesSlides/notesSlide25.xml" Id="R63ff8da3417a442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3dbe2f83b4e97" /><Relationship Type="http://schemas.openxmlformats.org/officeDocument/2006/relationships/notesSlide" Target="/ppt/notesSlides/notesSlide26.xml" Id="Rd2a76c653b5e492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b34df9d854bf5" /><Relationship Type="http://schemas.openxmlformats.org/officeDocument/2006/relationships/notesSlide" Target="/ppt/notesSlides/notesSlide27.xml" Id="Reade835153b3460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135b61d3d4963" /><Relationship Type="http://schemas.openxmlformats.org/officeDocument/2006/relationships/notesSlide" Target="/ppt/notesSlides/notesSlide28.xml" Id="R934c03f6285240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ca9462cf349c2" /><Relationship Type="http://schemas.openxmlformats.org/officeDocument/2006/relationships/notesSlide" Target="/ppt/notesSlides/notesSlide29.xml" Id="Rcb44665508eb49a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4bbac14ff4808" /><Relationship Type="http://schemas.openxmlformats.org/officeDocument/2006/relationships/notesSlide" Target="/ppt/notesSlides/notesSlide30.xml" Id="R3d797d25c7de45b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e9f64a95d4d3b" /><Relationship Type="http://schemas.openxmlformats.org/officeDocument/2006/relationships/notesSlide" Target="/ppt/notesSlides/notesSlide31.xml" Id="Rde1bf028ab94454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9c2343adb4d5c" /><Relationship Type="http://schemas.openxmlformats.org/officeDocument/2006/relationships/notesSlide" Target="/ppt/notesSlides/notesSlide32.xml" Id="Rca94cbe3fd1d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6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DBC58-B14B-4BB6-867E-2C385784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Организация научных исследований студентов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A9988-B1E8-45CD-B966-A70051B9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Семинар 1</a:t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Подготовка заявки на конкурс УМНИК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9B775-F9C9-4DF9-8A1C-598DF99C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7DDE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C7DDE8"/>
                </a:solidFill>
                <a:latin typeface="Calibri"/>
                <a:ea typeface="Calibri"/>
                <a:cs typeface="Calibri"/>
              </a:rPr>
              <a:t>Учебный научный семинар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C7C6F-3DF9-40C6-960C-5E5F630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Никитин Петр Владимирович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к.пед.н., доцент, доцент кафедры искусственного интеллекта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Финансового университета при Правительстве Российской Федерации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CB85A-18DA-4A52-B223-1B089739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7DDE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C7DDE8"/>
                </a:solidFill>
                <a:latin typeface="Calibri"/>
                <a:ea typeface="Calibri"/>
                <a:cs typeface="Calibri"/>
              </a:rPr>
              <a:t>Москва · редакция 6 октября 2026 года</a:t>
            </a:r>
          </a:p>
        </p:txBody>
      </p:sp>
    </p:spTree>
    <p:extLst>
      <p:ext uri="{BB962C8B-B14F-4D97-AF65-F5344CB8AC3E}">
        <p14:creationId xmlns:p14="http://schemas.microsoft.com/office/powerpoint/2010/main" val="81114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49793-1B91-4A28-98A5-FF331180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Результат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7D98B-46AF-40F0-BC1F-ADC61816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97205-987B-435A-B20D-E1A1DD1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Индивидуальный учебный проект заявки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04F40-E7FC-47EB-A962-0333518E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22F07-E76F-4B1C-B602-ED698348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Конкретный продукт, гипотеза и эксперимент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41C40-7715-4B6D-BF0E-5DB8D6FD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46A5A-E5D1-45F2-880A-55F6EBD9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Техническое задание и два этапа работ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F5688-7314-432D-B09F-C4F6D9EF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B3D77-675A-4151-B7DB-284F8FD5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Клиент, личный вклад и комплект документов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F4259-C3E1-4C90-BF88-93ED3519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Реальная отправка возможна только в открытом конкурсе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AE538-9C1F-4B23-BE9C-CC0BC96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8827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64135-DBEB-43E3-BCB3-FF5AB927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План одной пары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62000" y="1704975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8667750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Минуты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Работа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0–17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НИР, допуск и календарь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17–42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Тема, проблема, гипотеза и новизна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42–69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Данные, эксперимент, ТЗ и план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69–90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Клиент, проверка и сдача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147C6-009D-4282-BC6C-A68058C9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7131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9D0EA-42CD-4793-9D5B-2BA0F4BA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Исследовательская задача студента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30B18-9ADB-49E3-86A6-1C3C7F35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E2CE5-5D6C-4D95-BC9B-50D00B74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Объект: процесс или система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73C0A-40EF-41B1-B0F7-87191FAE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B2332-88DD-4FAE-AB70-1F9072F9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Предмет: свойство или метод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02F9D-1187-48F8-AFB7-23550701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5849A-BE38-451F-AC1B-8D25924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Гипотеза: предположение, которое можно 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1E0A8-6F86-4412-B6EB-A74CA758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89662-99D1-4A4B-96B0-F175C3DF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Результат: доказательство и работающий прототип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0CDB3-857B-4790-8CD2-21FB7CA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Пример: калибровка порогов аномальности для разных источников данных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9182D-628C-43DE-9B09-3759E34F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7156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B641C-DCAA-4BC1-9410-D8FE23AC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Направления кафедральных НИР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2E5B0-B8A7-4B31-994D-27267E17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93B9E-F953-46A5-8650-2D000BD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Качество корпоративных данных и госконтракты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DD80C-EADA-455A-8DC3-B501C646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3AC5-1A8F-4558-BEC6-2E71458B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Телефонный антифрод и речевые технологии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A12E4-D66D-46DD-876A-2A70E122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01147-9D8B-4B01-922B-98F85C1F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Транспорт, спрос и управление ресурсами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3BF68-B922-4A2D-85F0-4CE9A16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13C20-EDE9-4FEF-B490-458E12CC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Документы, ОС Аврора, КИИ и мобильный рынок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664B0-0934-4384-A600-6402F857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Для заявки нужен собственный ограниченный проект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20449-34A7-4626-8986-D8DC290F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733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9F148-E1DB-4085-BC05-B85CEB4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Параметры УМНИК 2026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704975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286500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Параметр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Очередь 1 2026 года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Грант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500 000 рублей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Работы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12 месяцев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Заявитель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Физическое лицо, гражданин РФ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Возраст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18–35 лет включительно при подаче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A945D-A66D-418F-8ECB-01AD3AC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Для будущего отбора параметры сверяются заново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612F-3CDE-4003-9288-C7AE0443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8973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79CFC-1C4E-48CE-AF62-CE85BDBD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Проверка допуска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42D2F-8F0E-4382-BB54-BF834231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43414-FD14-4DDE-BD41-1B21772B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Ранее не получал грантовую поддержку Фонда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39D62-EDBF-4047-9BAA-781353E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6A0E0-B702-49A6-9BEA-BFF6E85D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Одна заявка на рассмотрении по текущим конкурсам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A4D18-04B1-4AF0-BA35-291E2A74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C4207-8739-4664-9684-9C8F3A5C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Проверены другие роли в заявках и действующих проектах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471FD-E136-43F9-811D-34D9B79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77B07-5B26-4052-9C0B-D27C1591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Эти работы не финансировались из других источников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FBC15-8F4C-4B8A-BD9E-20B14222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B5184-3BA4-4BE4-896E-BCE6CA4D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Собственные права и отдельный результат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AA64F-7D00-4644-9E92-15CB165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6349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5C745-9E37-4783-BDEB-8792E79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Календарь 2026 года по Москве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704975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286500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Событие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Дата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Прием заявок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27 апреля – 27 мая, до 12:00 мск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Формальная экспертиза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27 мая – 11 июня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Защита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15–30 июня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Договоры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 августа – 30 сентября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0F32B-FB43-4610-BCB0-5FA90DFB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Прием завершен. Даты следующего отбора устанавливает новое объявление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84349-1894-4C0C-A1D7-A0310B8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7250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763CA-0F98-43DC-9770-429C787C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Учебная подготовка осенью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341D6-B72F-4812-82F9-DEAB0CAA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5C974-AA20-4A1C-A676-AB1FCA88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Октябрь: тема, источники и первый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AF17C-64E4-4566-B564-4F6D0099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F3E14-883C-4539-9173-7766DF2D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Начало ноября: полный содержательный пакет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E3388-D4C8-4E78-87CC-FCA8795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00FE1-DB6B-48AF-A8D9-75DDC3C0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Середина ноября: учебная защита и исправления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374CF-9D53-429A-B544-683262BD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1D133-F7D3-468E-887E-CC5D10CB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После объявления: новые формы и реальная подача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35C2C-4CEC-46F5-ADFF-5C45B94A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Это предлагаемый учебный график, а не календарь Фонда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49BE9-0BA4-45EA-A978-2476A0F5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26854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9FF23-939A-489F-A8B8-2F4CB6FC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Тематическое направление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AA4EF-023A-4AE0-8314-573CD55D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7AC1F-62E2-49A0-9031-8AE3FD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Н1 подходит многим программным задачам кафедры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D8A1E-8D46-4585-84DE-E1A38D16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2B18D-7DE5-4C11-9B73-AC6E4730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Официальный вызов имеет собственное направление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C91A3-EE8F-484B-9152-FEC201D8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C747F-8674-4A45-BB4C-2CBC8655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НПТЛ требует содержательного обоснования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E570D-72ED-4E0A-9F19-43713290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278A1-0518-4AED-806A-9F5DA928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Подтвержденное соответствие НПТЛ дает 1 балл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2C19A-E210-40E7-84BB-90B74DCB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Оцифровка графиков в перечне 2026 года относится к Н4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CD0CE-6AD6-47A0-91CE-6CE1ED3B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34906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82D75-2894-4E22-894A-38D6C7E6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Выбор посильной 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36459-74DD-4EF3-B574-5EFD2EF1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060BB-A689-49F2-BD65-2049D4E9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Есть законный источник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F130E-2BD1-43D0-8710-CAF08AA9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B101D-20C0-49F6-AAED-F8591DAF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Простой baseline можно воспроизвести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B4711-79D6-4DD9-AED0-97A87203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612D-E605-4AB8-B68F-98C4ECD9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Вклад проверяется отдельным экспериментом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3746D-45B7-44FC-A189-A0E74095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06A9-4528-4498-A644-013D0479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Один пользователь и ограниченный сценарий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F93A8-376A-4087-944C-3E048536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04047-7FE9-4A6C-AF5B-6ACBCD6F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Ресурсы доступны в течение года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C726F-DF4D-4C5A-9B67-F7D0E28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Для начала: качество данных, учебные подсказки, анализ отзывов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C8992-BB4B-4E45-9F06-3AE3762F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0298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6C45B-6FCC-48FD-8311-37B8D470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Примеры официальных вызовов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704975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286500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Партнер в перечне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Студенческий вариант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Онлайн патент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Поиск релевантных патентных документов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Вебпрактик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Ответы по регламентам с проверяемыми ссылками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РОББО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Подсказки по ошибкам программирования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Наука и инновации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Извлечение данных из линейных графиков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F4125-28D3-4254-AB53-CDD44439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Связь с вызовом не подтверждает партнерство и доступ к данным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931DF-DC56-4519-9B1C-0D71455D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47255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21DA0-B19C-4CD0-8E17-E6D35DCB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Название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42009-CA3C-4EFD-8FEF-4C572F3A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CC2B1-51CE-4191-A249-70BBC497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Первое слово: «Разработка»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EB1A3-47BB-4074-8936-1B7D863F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11329-105E-4639-BD80-E3D9D8E3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 названии указан потенциальный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FA6C4-2A82-4A59-A166-D15A988F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9DD07-DE30-4C57-B341-4599F5F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Задача имеет понятные границы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D9B98-7694-47C5-9F4D-1C24178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05CDF-2E70-4FE1-A21A-BF63F158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Разработка программного модуля адаптивного выявления аномалий в табличных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11226-7BC6-4110-A85C-3DB1A1A0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07934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93E5B-FC95-46E6-9D2B-D4CB8E9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Проблема и аннотация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B680E-C914-4ECE-9144-5585795F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DA2E0-E07D-4A3F-9726-F1C2FBD1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Кто сталкивается с проблемой и как решает ее сейчас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07053-FD63-465C-80D4-564EADA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41D27-CDB6-4311-B375-FF35FAE0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Какой механизм предлагается исследовать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7786B-5DE0-416C-8BF2-43CE04E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218D0-6FB4-4447-8E7A-40448003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На каких данных и с чем сравнивается метод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62FDC-7991-462E-A6ED-2AB34D97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80490-6FA2-4786-BDF4-B74330FD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Какой прототип и применение ожидаются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0CC78-3E22-4240-BC0A-95429D6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Целевые показатели называются планируемыми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5CB5D-3081-405D-996C-D54A18BA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60138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DD416-7545-43A7-87D4-DD1843FB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Проверяемая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7A1F5-7F51-4524-8B7A-C453E427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84A55-D041-4414-95B9-C9AA5AF1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Механизм: пороги по группам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80323-0EE6-4BD7-A30F-F5ACC333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63CF6-0806-4594-911D-92A79476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Сравнение: единый порог одной и той же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63173-B224-4161-AFAD-4AD930F2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6434B-4FBD-4BB1-AEDE-32E95628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Показатель: Recall при фиксированном FPR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B4BF9-13E6-498A-8AEB-39F4D320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D25EA-7845-4FF5-BFB4-3289F3B2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Условия: новые источники и изменения распределения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4BC55-9C1A-4FC6-937E-998A4045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Наличие известной нейросети само по себе не объясняет новизну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16AA9-B061-44CB-8D28-9D611CB0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019015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4F22D-96D0-4765-95FB-8A826657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Аналоги и собственный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56ACE-49E3-4348-8FB1-C4605CD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EE96B-BDB6-4B9C-9330-82D33EB1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Ближайший научный метод и техническое 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42A3F-9DA9-4555-8509-072AAE09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D652D-C45C-4FC4-A07E-7D7DB0D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Подтвержденное ограничение в наших условиях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F7B43-7B65-4FC7-90E9-ED5E1EB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6A613-689D-4307-9CC2-E7235EF6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Новый механизм и способ проверки его вклада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8AFE1-720E-44D8-9670-C0B786C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1126A-CDB2-488A-BA9A-2770D0FC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Личные результаты отдельно от результатов кафедры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22E98-132E-4DE3-90DD-029C057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915519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36375-B53D-4F3D-8B6C-D3485B59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Паспорт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F0E69-C1A4-40D4-8003-26695C75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C0344-7754-44E2-AD17-0FEBC46B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Источник и условия использования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6B389-D2C7-4E6A-84FC-C5FDE4C4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03F4D-B01E-4BF5-8249-7DCB22B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Единица наблюдения, признаки и метки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233E5-2E2B-4E83-8BEF-F8B2A17F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CE352-5BC8-4403-AB7A-03C119D6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Момент доступности признаков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B480E-2E60-414E-A497-DE48AB70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751DB-8A91-41FD-B122-A5BEDFB1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Размер, разметка и ограничения переноса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AF325-2F27-4A4B-B439-5F3219E3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B0516-C370-46DF-8F54-9ADA5BD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Разрешение на использование и запасной вариант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7EF78-804B-48E6-A271-5B48B9C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89174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47247-B82B-4D51-8538-391A4432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Эксперимент без утечки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C503B-A99D-434F-99C6-FDDEBD5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A048D-0167-40B3-8654-FA80B8FD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Train: обучение модели и предобработки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90301-29CE-4771-883A-F8C78EAD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6CF35-537E-467D-A2BF-944E108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Validation: настройка параметров и порога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3B639-64F4-4D14-A5DB-2A878E33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EDE4A-AF75-4A5D-B875-EA357D40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Test: однократная финальная оценка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366FA-D06E-4EED-B4D2-027C9F36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E8DC9-D60C-49C6-9BAF-0B5363D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Разделение по времени, авторам или источникам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127EB-E13E-4735-BBD5-037E69F3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E8A80-AE2E-43DE-8F35-BFFB189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Абляция показывает вклад нового компонента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FE680-0E1F-4E36-BFF9-590E590A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0377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E1BB5-114F-4856-A413-E92F865E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Метрика соответствует задаче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704975"/>
          <a:ext xmlns:a="http://schemas.openxmlformats.org/drawingml/2006/main" cx="10572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286500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Задача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Основные показатели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Редкие нарушения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Recall при FPR, Average Precision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Поиск документов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Recall@k, nDCG@k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Прогноз спроса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MAE, WAPE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Извлечение данных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F1 по полям, ошибка чисел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699D0-915E-4809-B6DB-466DBB23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Accuracy недостаточно для редких событий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96872-6B19-452C-BC97-0C2CF7F9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196852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AACB6-FF86-4E84-AAE5-21F36EA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Проверка требования на числах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58B61-9B20-4C4E-95D8-67A42852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96590-EEEA-4D7A-94DB-432E189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1 000 объектов, из них 50 ошибочных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7ABB5-87A3-418A-93D5-43A40125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0C6EF-AF18-4818-968B-1C33A01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40 ошибок найдены, 10 нормальных отмечены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C48DB-01D0-41EF-B7CA-C57DCC04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20066-4AA9-4E39-AB3A-FFF63CE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Recall = 40 / 50 = 0,80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C5F0A-ABFB-4E6A-B995-331C7F8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2DD9E-6708-4EC2-BAF4-A7E17AAE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FPR = 10 / 950 ≈ 1,05%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41909-46D0-4684-8BD5-0412D902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9DECF-5527-4832-A2DD-2DE5BF6E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Требование FPR ≤ 1% пока не выполнено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32BA5-69F8-4F6F-BA99-D0350C4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944571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E86EF-1EB3-47D0-B413-61D02F9A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Сквозной проект по качеству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F0BB3-C816-464B-8495-025EE3D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DD905-85A9-4B9E-B2D6-33E3AC9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Продукт: локальный модуль и журнал проблем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FA115-8313-4720-B5E6-E58E850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DC238-9A82-49CB-8DC9-8C5B371C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Механизм: калибровка порогов по группам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EB601-AE09-40AD-A6F8-0FCB1B8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E4C03-D347-436E-8726-C2CE3FD7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Baseline: правила и модель с единым порогом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57A10-4E42-4608-905C-013FDE4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1B4F7-E815-47C4-8ED4-C4D91598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Приемка: качество, объем, время и формат вывода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DA5EF-2E12-46F8-A2DB-DBC2F623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Полный заполненный пример приведен в пособии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D5338-0FA1-44D6-B0F1-FEB0825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043082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A9A32-20F4-4241-B8F8-8693653A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Техническое задание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B61D7-7208-4CF7-BEF5-BABDA4D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356AE-8F87-4CC4-9AC6-E4AAC2D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Цель, задачи и 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B816E-3C6D-4AA5-AAE9-2C8FBC14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2A9F5-FB05-4881-AEA0-476B9D5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Числовые характеристики и способ приемки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538FD-B919-4DC8-B7AD-C2D4C9DD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D1AA4-F49B-4942-B46C-079A0912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Вход, выход, интерфейс и воспроизводимость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A3F78-53B4-4836-AF13-B757B6C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EEE83-A286-46C8-969D-5A9A31F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Защита прав, РИД и отчетность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50BA5-DE54-4AB0-8B72-A1F3DA4B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6E200-51A7-499B-871C-F7E1F3A5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Срок начала определяется договором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C58CF-46BE-429C-9C98-0D45E15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424123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2F960-EBF4-46F6-BA1B-AE7E899A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Два этапа работ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704975"/>
          <a:ext xmlns:a="http://schemas.openxmlformats.org/drawingml/2006/main" cx="10572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286500"/>
              </a:tblGrid>
              <a:tr h="1111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Этап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Работы и результат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Месяцы 1–6</a:t>
                      </a:r>
                    </a:p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200 000 руб.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Данные, baseline, метод и промежуточный отчет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11112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Месяцы 7–12</a:t>
                      </a:r>
                    </a:p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300 000 руб.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Испытания, прототип, РИД и итоговый комплект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1159A-5F89-4992-BE54-EC81C1C9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Стоимость этапов и порядок перечисления средств сверяются по договору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BC2BF-48E6-498E-83FA-66C3534E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545283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B91F4-EE2E-4E34-A589-515B630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Клиент и коммерциализация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C3731-63D5-448A-A631-FF2F1264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CB478-EDCD-4EE3-A829-76C9717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Пользователь и покупатель могут различаться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83EF4-5113-4520-B28E-B2D48BF1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514D5-B696-41DD-9BB5-5DB57F6B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Интервью проверяет реальный рабочий процесс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C9CDE-A553-42FF-8CDC-4C2CE15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F45FF-359A-4E33-BC23-B28B69EC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Цена и объем продаж имеют основания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048F-8BA2-44B4-9576-4E009CB8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8116D-6B19-4497-9C22-60622275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Письмо интереса подписывает сама организация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DD7DC-DED7-4421-9913-7E9F89F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D1BA2-FADA-4419-A6B1-2AD9D812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Пилот имеет данные, условия и критерии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EF2FE-A398-4C22-AC0C-725DEC02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542453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44919-7561-4BBF-82D6-01D8865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Квалификация начинающего заявителя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15C97-5977-4F26-83EA-B6DC5023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9E0B7-2F2D-4858-8030-E16E4115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Навыки Python и базового машинного обучения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323A6-F698-4739-A689-771DA73A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9599F-7E71-4396-8715-9BCFAD91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Собственный учебный проект и код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3F791-2949-4837-9721-E0D7E0D6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BD5D1-AE59-4D66-AB50-9F7BD34D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Реально воспроизведенный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A1A86-61B4-45E6-91CF-9227017B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90AC5-5571-41E6-A184-94177B5D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Личный вклад и доступные консультации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CCCA7-F710-4D7C-B76F-E415F697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9A266-89FE-4EFE-B1A3-8DE7692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Достижения подтверждаются документами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45278-0677-4901-8C68-7FF58742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Статья не является отдельным обязательным условием общего конкурса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F67D4-AD72-40A1-BAF8-1704AC4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380700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D1FD3-BAD3-4FF0-8417-90992860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Обязательные документы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97393-7BD9-41BB-9FB6-ABAFC82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13F4D-E26F-40CC-9072-ED7FA93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Электронная заявка, ТЗ и календарный план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F8CF1-9C4B-4169-8C6A-35BDDA22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92402-2776-454A-A73D-ADE3949E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Заявление и декларация соответствия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92FAF-FCA4-44D7-9596-7021BB0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33DEB-118C-4B3B-B7AC-90D215AB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Согласие на обработку персональных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F23BB-4B4F-45BD-AC5B-3204A3F5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A5788-B6BB-4DD1-9906-3CC529A4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Паспортные страницы по правилам регистрации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516A6-A1C6-4CB5-9572-71C1219A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7FD47-59B2-403E-A8EC-6EA135F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Презентация проекта в PDF или PPTX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72A37-4FBD-41F6-B331-D2C2239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Формы, даты и подписи проверяются по открытому отбору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8AAB9-FFB1-4F20-8E89-907FA11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51168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63270-B672-4911-B439-525AA184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Подача в Фонд 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25A20-834E-4D85-BB4A-238AF454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E1116-C479-4939-AAD0-BF960DB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Личная учетная запись на online.fasie.ru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EC756-CAF8-4A54-A51F-BA56660D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F9E19-D4CD-4E2F-A8E5-49006A7D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Выбран действующий конкурс и очередь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27D80-AF6B-4EA7-960D-1BB3EDC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68493-3737-4B3D-A9E2-697C476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Все поля и вложения проверены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890A5-40B6-4ACC-8A55-944E027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E010-E60A-4565-A561-3D72335C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Выполнена отправка и проверен статус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F15A6-83E0-49DC-89FA-4712DF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ACB05-6A90-48CC-9A05-317B9144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Сохранены номер заявки и московское время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AB5D8-40DD-4AA0-8552-A7996DF4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Черновик и поданная заявка имеют разные статусы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19299-FA85-4382-AD58-ABA70F32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981731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51B76-DA07-405D-AA9A-38A32698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Оценка экспертами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704975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286500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Критерий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Максимум</a:t>
                      </a:r>
                    </a:p>
                  </a:txBody>
                  <a:tcPr marL="152400" marR="152400" marT="104775" marB="104775" anchor="ctr">
                    <a:solidFill>
                      <a:srgbClr val="14364B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Научно-технический уровень продукта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10 баллов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Перспективы коммерциализации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10 баллов</a:t>
                      </a:r>
                    </a:p>
                  </a:txBody>
                  <a:tcPr marL="152400" marR="152400" marT="104775" marB="104775" anchor="ctr">
                    <a:solidFill>
                      <a:srgbClr val="EEF3F6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Квалификация заявителя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4364B"/>
                          </a:solidFill>
                          <a:latin typeface="Calibri"/>
                          <a:ea typeface="Calibri"/>
                          <a:cs typeface="Calibri"/>
                        </a:rPr>
                        <a:t>10 баллов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452E5-49A8-4E17-89A8-B6433C17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Внутренних весов показателей самостоятельно не назначаем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6E65F-2C7A-4067-86F6-A70895B9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758259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74796-97E7-4221-A1AC-AD5F92C7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Защита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DF877-2166-4EEB-8B13-992C50C6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C025-4355-4DE6-92CC-31C2A9B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Проблема и продукт для 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7DBC2-9657-4C90-B906-7BD1FB0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932D9-9A13-4A0F-8034-523EDBED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Аналоги, гипотеза и личный вклад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6C08D-E3D2-4DB0-950B-90D5446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D53B6-2CC4-439A-8E59-6C3468B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Данные, эксперимент и показатели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2E180-4656-4E7F-A846-CF321B06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FE3CA-160B-4196-B917-586D348B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План, ресурсы, клиент и риски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6345E-4FEA-4246-A97F-7335F63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Учебная репетиция: 3 минуты доклада и 2 минуты вопросов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27414-3A27-4B59-9285-0D2A4F92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508157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93EF0-F1D4-447E-8AFA-BEBB72C9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Обязательства победителя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D9BF4-ABD7-42BE-9FF3-C0FD5FAF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858DE-19CE-4B3D-98A3-B4222AEC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Договор: 20 дней на подготовку после публикации итогов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16EAC-33D6-4B28-B7D6-1B775C56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BC034-247C-4F5B-8C60-B3838404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Замечания: до 10 дней на исправление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1B8DD-DA43-47F7-A9D3-584C605F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1BA25-8A87-467D-A3D6-100D735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6712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Подпись УКЭП: 7 дней после подписи Фонда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C24A0-7849-4480-867A-63C2CD86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61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E69E2-DF4D-4A3A-BAAE-175D212D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985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Два этапа отчетности и приемка результатов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7F3FA-E8E9-4794-B40C-93019C29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Сроки приведены для очереди 1 2026 года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675C-C494-43BB-B8BD-941A624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202591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B4FC5-0B59-464D-929D-A0C2C5A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Результаты по завершении НИР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83AE5-1360-453A-B4E7-C33C0379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A9904-CCCF-483D-B81C-4484A742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Научно-технические и финансовые отчеты, акты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1B267-5C81-4BB7-AC96-2DBAD17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BA49-6D27-4DAD-AC68-7CA7349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Заявка на регистрацию созданного РИД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BE5A0-E25F-48BB-A012-7B3EE61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7CA21-7CDE-474E-860F-12228CA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Подходящая преакселерация или университетский акселератор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469DE-809B-4753-A927-D0E93F55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9164B-6BD7-49AA-8F3A-2D33A49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Бизнес-план либо заявка на следующий конкурс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89197-033D-461B-98E2-BB0EDE2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D17D6-85E3-4AB4-8CAE-1231F06C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Дорожная карта развития проекта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710A5-8901-4D85-9FDA-F3DFFA87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Выполненные работы и принятая отчетность завершают договор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759EC-2FB0-42B8-A32C-959AC35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402130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E62E2-B24D-474F-B422-C678E470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Итог занятия и ближайшие 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DDAAD-1D01-45FE-804D-80815E03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C6CC9-5D6A-4B05-94FF-C9431E1E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240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Сдать заполненную рабочую тетрадь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582CC-8CEF-4058-B243-4BDB0C8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46AD2-1883-44A5-903B-6DFAC7C7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Отметить доказательства и источники, которых не хватает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2B089-7D2A-48BE-AB3B-E798D08A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42020-2B8D-4F74-9BAA-4E5D5CA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В течение 48 часов устранить учебные замечания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4CC11-DBEB-4403-9683-7EB0D879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52F41-8F90-4118-B2E2-245E0635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Подготовить 7 слайдов и первый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44192-DDEF-43B2-B1C3-30FAC1BD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1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7B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17B91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0CAB0-7A32-4F3D-8F78-5A55EBDD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4425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36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364B"/>
                </a:solidFill>
                <a:latin typeface="Calibri"/>
                <a:ea typeface="Calibri"/>
                <a:cs typeface="Calibri"/>
              </a:rPr>
              <a:t>Проверить новые правила после объявления отбора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05682-FD8E-48AF-A8C2-5607FC9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975"/>
                </a:solidFill>
                <a:latin typeface="Calibri"/>
                <a:ea typeface="Calibri"/>
                <a:cs typeface="Calibri"/>
              </a:rPr>
              <a:t>Полный чек-лист и источники находятся в пособии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B75D0-A818-4286-802F-CA20FB04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E9099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7E9099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35749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2026-10-06T06:02:35.4400000Z</dcterms:created>
  <dcterms:modified xsi:type="dcterms:W3CDTF">2026-10-06T06:02:35.4400000Z</dcterms:modified>
</coreProperties>
</file>